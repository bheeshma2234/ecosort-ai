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7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6583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200" b="1">
                <a:solidFill>
                  <a:srgbClr val="18342B"/>
                </a:solidFill>
                <a:latin typeface="Aptos"/>
              </a:defRPr>
            </a:pPr>
            <a:r>
              <a:t>EcoSort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38528"/>
            <a:ext cx="6949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1">
                <a:solidFill>
                  <a:srgbClr val="237441"/>
                </a:solidFill>
                <a:latin typeface="Aptos"/>
              </a:defRPr>
            </a:pPr>
            <a:r>
              <a:t>Smart Waste Segregation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606040"/>
            <a:ext cx="6675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26322C"/>
                </a:solidFill>
                <a:latin typeface="Aptos"/>
              </a:defRPr>
            </a:pPr>
            <a:r>
              <a:t>A sustainability-focused web prototype that helps users identify waste categories and choose more responsible disposal actions.</a:t>
            </a:r>
          </a:p>
        </p:txBody>
      </p:sp>
      <p:sp>
        <p:nvSpPr>
          <p:cNvPr id="7" name="Oval 6"/>
          <p:cNvSpPr/>
          <p:nvPr/>
        </p:nvSpPr>
        <p:spPr>
          <a:xfrm>
            <a:off x="8229600" y="1143000"/>
            <a:ext cx="2606040" cy="2606040"/>
          </a:xfrm>
          <a:prstGeom prst="ellipse">
            <a:avLst/>
          </a:prstGeom>
          <a:solidFill>
            <a:srgbClr val="DEF0E2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68512" y="1572768"/>
            <a:ext cx="17373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600" b="1">
                <a:solidFill>
                  <a:srgbClr val="237441"/>
                </a:solidFill>
                <a:latin typeface="Aptos"/>
              </a:defRPr>
            </a:pPr>
            <a:r>
              <a:t>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251960"/>
            <a:ext cx="3154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51560" y="443484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442569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4407408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Primary SDG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4828032"/>
            <a:ext cx="2148839" cy="3383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rPr dirty="0"/>
              <a:t>SDG 12 — Responsible Consumption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4251960"/>
            <a:ext cx="3154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34840" y="443484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442569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4407408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Secondary SDG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1768" y="4828032"/>
            <a:ext cx="2148839" cy="3383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SDG 11 — Sustainable Cities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623560"/>
            <a:ext cx="6949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B5230"/>
                </a:solidFill>
                <a:latin typeface="Aptos"/>
              </a:defRPr>
            </a:pPr>
            <a:r>
              <a:t>1M1B AI for Sustainability Virtual Internship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837439"/>
            <a:ext cx="7498079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26058"/>
                </a:solidFill>
                <a:latin typeface="Aptos"/>
              </a:defRPr>
            </a:pPr>
            <a:r>
              <a:rPr sz="1400" b="1" dirty="0"/>
              <a:t>Bheeshma Shankar A  •  Chaitanya Bharathi Institute of Technology</a:t>
            </a:r>
            <a:endParaRPr lang="en-US" sz="1400" b="1" dirty="0"/>
          </a:p>
          <a:p>
            <a:pPr algn="l">
              <a:defRPr sz="1100" b="0">
                <a:solidFill>
                  <a:srgbClr val="526058"/>
                </a:solidFill>
                <a:latin typeface="Aptos"/>
              </a:defRPr>
            </a:pPr>
            <a:r>
              <a:rPr lang="en-US" sz="1400" b="1" dirty="0"/>
              <a:t>Internship ID: INTERNSHIP_17828984086a44dee80acf6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6858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526058"/>
                </a:solidFill>
                <a:latin typeface="Aptos"/>
              </a:defRPr>
            </a:pPr>
            <a:r>
              <a:t>ECOSORT AI  |  1M1B AI FOR SUSTAINABILITY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55664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526058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7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3744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210312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342B"/>
                </a:solidFill>
                <a:latin typeface="Aptos"/>
              </a:defRPr>
            </a:pPr>
            <a:r>
              <a:t>Problem 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758952"/>
            <a:ext cx="10058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26058"/>
                </a:solidFill>
                <a:latin typeface="Aptos"/>
              </a:defRPr>
            </a:pPr>
            <a:r>
              <a:t>Why a simple waste-segregation assistant is useful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4290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160020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9105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572768"/>
            <a:ext cx="24505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Waste confusion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1993392"/>
            <a:ext cx="2423160" cy="2624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Users may be unsure whether everyday items belong in wet, recyclable, e-waste or special-handling categories.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417320"/>
            <a:ext cx="34290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53712" y="160020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159105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72768"/>
            <a:ext cx="245059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Mixed disposal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993392"/>
            <a:ext cx="2423159" cy="2624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Incorrect segregation can contaminate materials and make downstream sorting and recovery more difficult.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1417320"/>
            <a:ext cx="34290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38744" y="160020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38744" y="159105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1572768"/>
            <a:ext cx="245059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Special materials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1993392"/>
            <a:ext cx="2423159" cy="2624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Batteries, electronics, glass and other items may require safer or separate handling.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212080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37441"/>
                </a:solidFill>
                <a:latin typeface="Aptos"/>
              </a:defRPr>
            </a:pPr>
            <a:r>
              <a:t>Opportunity: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01952" y="5148072"/>
            <a:ext cx="9052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342B"/>
                </a:solidFill>
                <a:latin typeface="Aptos"/>
              </a:defRPr>
            </a:pPr>
            <a:r>
              <a:t>Provide quick, understandable guidance at the point where the disposal decision is made.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6858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526058"/>
                </a:solidFill>
                <a:latin typeface="Aptos"/>
              </a:defRPr>
            </a:pPr>
            <a:r>
              <a:t>ECOSORT AI  |  1M1B AI FOR SUSTAINABILITY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55664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52605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7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3744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210312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342B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758952"/>
            <a:ext cx="10058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26058"/>
                </a:solidFill>
                <a:latin typeface="Aptos"/>
              </a:defRPr>
            </a:pPr>
            <a:r>
              <a:t>A clear design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1828800"/>
          </a:xfrm>
          <a:prstGeom prst="roundRect">
            <a:avLst/>
          </a:prstGeom>
          <a:solidFill>
            <a:srgbClr val="DEF0E2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1737360"/>
            <a:ext cx="96926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18342B"/>
                </a:solidFill>
                <a:latin typeface="Aptos"/>
              </a:defRPr>
            </a:pPr>
            <a:r>
              <a:t>How might we use AI to help people correctly identify and segregate waste so that waste management becomes more sustainable?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9476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97280" y="397764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96849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64207" y="3950208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WHO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7" y="4370832"/>
            <a:ext cx="214884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Students, households, offices and communities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379476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709160" y="397764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9160" y="396849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76088" y="3950208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4370832"/>
            <a:ext cx="2148839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Uncertainty about the right waste category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79476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321040" y="397764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396849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87968" y="3950208"/>
            <a:ext cx="2176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8" y="4370832"/>
            <a:ext cx="2148839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Simple guidance for responsible disposal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6858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526058"/>
                </a:solidFill>
                <a:latin typeface="Aptos"/>
              </a:defRPr>
            </a:pPr>
            <a:r>
              <a:t>ECOSORT AI  |  1M1B AI FOR SUSTAINABILITY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55664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52605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3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7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3744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210312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342B"/>
                </a:solidFill>
                <a:latin typeface="Aptos"/>
              </a:defRPr>
            </a:pPr>
            <a:r>
              <a:t>Target users &amp; design thinking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758952"/>
            <a:ext cx="10058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26058"/>
                </a:solidFill>
                <a:latin typeface="Aptos"/>
              </a:defRPr>
            </a:pPr>
            <a:r>
              <a:t>Human-centered development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25420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59" y="150876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49961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481328"/>
            <a:ext cx="156362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Students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901952"/>
            <a:ext cx="1536191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Campus waste decisions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325880"/>
            <a:ext cx="25420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39312" y="150876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39312" y="149961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481328"/>
            <a:ext cx="156362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Households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1901952"/>
            <a:ext cx="1536191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Daily household items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1325880"/>
            <a:ext cx="25420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55664" y="150876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5664" y="149961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2592" y="1481328"/>
            <a:ext cx="156362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Offices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2592" y="1901952"/>
            <a:ext cx="1536191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Workplace segregation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1325880"/>
            <a:ext cx="25420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272015" y="150876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72015" y="149961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38944" y="1481328"/>
            <a:ext cx="156362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Communities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38944" y="1901952"/>
            <a:ext cx="1536191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Shared spaces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33756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22959" y="352044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59" y="351129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07592" y="3515030"/>
            <a:ext cx="1069848" cy="3308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rPr dirty="0"/>
              <a:t>Empathize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9888" y="3913632"/>
            <a:ext cx="960119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Understand user needs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606039" y="4050791"/>
            <a:ext cx="228600" cy="0"/>
          </a:xfrm>
          <a:prstGeom prst="line">
            <a:avLst/>
          </a:prstGeom>
          <a:ln w="25400">
            <a:solidFill>
              <a:srgbClr val="237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880360" y="333756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063240" y="352044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063240" y="351129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30168" y="3493008"/>
            <a:ext cx="9875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Define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30168" y="3913632"/>
            <a:ext cx="96012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Frame the problem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846320" y="4050791"/>
            <a:ext cx="228600" cy="0"/>
          </a:xfrm>
          <a:prstGeom prst="line">
            <a:avLst/>
          </a:prstGeom>
          <a:ln w="25400">
            <a:solidFill>
              <a:srgbClr val="237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120640" y="333756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303520" y="352044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03520" y="351129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70448" y="3493008"/>
            <a:ext cx="98755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Ideate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70448" y="3913632"/>
            <a:ext cx="960119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Create solution ideas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086600" y="4050791"/>
            <a:ext cx="228600" cy="0"/>
          </a:xfrm>
          <a:prstGeom prst="line">
            <a:avLst/>
          </a:prstGeom>
          <a:ln w="25400">
            <a:solidFill>
              <a:srgbClr val="237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360920" y="333756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543800" y="352044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543800" y="351129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28432" y="3501314"/>
            <a:ext cx="1069847" cy="3308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rPr dirty="0"/>
              <a:t>Prototype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10728" y="3913632"/>
            <a:ext cx="960119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Build the web app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326880" y="4050791"/>
            <a:ext cx="228600" cy="0"/>
          </a:xfrm>
          <a:prstGeom prst="line">
            <a:avLst/>
          </a:prstGeom>
          <a:ln w="25400">
            <a:solidFill>
              <a:srgbClr val="237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9601200" y="333756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9784080" y="352044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784080" y="351129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51008" y="3493008"/>
            <a:ext cx="98755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51008" y="3913632"/>
            <a:ext cx="960119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Check representative inputs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" y="5166360"/>
            <a:ext cx="10424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8342B"/>
                </a:solidFill>
                <a:latin typeface="Aptos"/>
              </a:defRPr>
            </a:pPr>
            <a:r>
              <a:t>The prototype was designed around a simple user journey: describe an item → receive a category → understand why → act responsibly.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6473952"/>
            <a:ext cx="6858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526058"/>
                </a:solidFill>
                <a:latin typeface="Aptos"/>
              </a:defRPr>
            </a:pPr>
            <a:r>
              <a:t>ECOSORT AI  |  1M1B AI FOR SUSTAINABILITY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09960" y="6455664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52605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7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3744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210312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342B"/>
                </a:solidFill>
                <a:latin typeface="Aptos"/>
              </a:defRPr>
            </a:pPr>
            <a:r>
              <a:t>SDG 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758952"/>
            <a:ext cx="10058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26058"/>
                </a:solidFill>
                <a:latin typeface="Aptos"/>
              </a:defRPr>
            </a:pPr>
            <a:r>
              <a:t>Primary and secondary sustainability connections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71600"/>
            <a:ext cx="521208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155448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54533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1527048"/>
            <a:ext cx="42336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SDG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1947672"/>
            <a:ext cx="4206240" cy="3172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RESPONSIBLE CONSUMPTION AND PRODUCTION</a:t>
            </a:r>
            <a:br/>
            <a:br/>
            <a:r>
              <a:t>• Encourages responsible waste segregation</a:t>
            </a:r>
            <a:br/>
            <a:r>
              <a:t>• Supports recycling awareness</a:t>
            </a:r>
            <a:br/>
            <a:r>
              <a:t>• Gives disposal recommendations</a:t>
            </a:r>
            <a:br/>
            <a:r>
              <a:t>• Highlights special-handling waste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0" y="155448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54533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27048"/>
            <a:ext cx="42336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SDG 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1947672"/>
            <a:ext cx="4206240" cy="3172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SUSTAINABLE CITIES AND COMMUNITIES</a:t>
            </a:r>
            <a:br/>
            <a:br/>
            <a:r>
              <a:t>• Supports cleaner community practices</a:t>
            </a:r>
            <a:br/>
            <a:r>
              <a:t>• Promotes sustainability awareness</a:t>
            </a:r>
            <a:br/>
            <a:r>
              <a:t>• Can complement local waste-management efforts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6858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526058"/>
                </a:solidFill>
                <a:latin typeface="Aptos"/>
              </a:defRPr>
            </a:pPr>
            <a:r>
              <a:t>ECOSORT AI  |  1M1B AI FOR SUSTAINABILITY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55664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52605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7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3744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210312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342B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758952"/>
            <a:ext cx="10058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26058"/>
                </a:solidFill>
                <a:latin typeface="Aptos"/>
              </a:defRPr>
            </a:pPr>
            <a:r>
              <a:t>EcoSort AI — a browser-based decision-support prototype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80160"/>
            <a:ext cx="5257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572768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8342B"/>
                </a:solidFill>
                <a:latin typeface="Aptos"/>
              </a:defRPr>
            </a:pPr>
            <a:r>
              <a:t>EcoSort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48840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1">
                <a:solidFill>
                  <a:srgbClr val="26322C"/>
                </a:solidFill>
                <a:latin typeface="Aptos"/>
              </a:defRPr>
            </a:pPr>
            <a:r>
              <a:t>Enter a waste item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" y="2514600"/>
            <a:ext cx="4389120" cy="566928"/>
          </a:xfrm>
          <a:prstGeom prst="roundRect">
            <a:avLst/>
          </a:prstGeom>
          <a:solidFill>
            <a:srgbClr val="EBF0ED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07008" y="2615184"/>
            <a:ext cx="3840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26058"/>
                </a:solidFill>
                <a:latin typeface="Aptos"/>
              </a:defRPr>
            </a:pPr>
            <a:r>
              <a:t>used plastic water bottle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" y="3337560"/>
            <a:ext cx="1737360" cy="566928"/>
          </a:xfrm>
          <a:prstGeom prst="roundRect">
            <a:avLst/>
          </a:prstGeom>
          <a:solidFill>
            <a:srgbClr val="237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3447288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20624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37441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52628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B5230"/>
                </a:solidFill>
                <a:latin typeface="Aptos"/>
              </a:defRPr>
            </a:pPr>
            <a:r>
              <a:t>Dry / Recyclable Waste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2588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583680" y="150876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149961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8" y="1481328"/>
            <a:ext cx="409651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Identify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0608" y="1901952"/>
            <a:ext cx="4069079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Classify the described item into a practical waste category.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69748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583680" y="288036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287121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8" y="2852928"/>
            <a:ext cx="409651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8" y="3273552"/>
            <a:ext cx="4069079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Give a reason and disposal recommendation.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06908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583680" y="425196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424281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4224528"/>
            <a:ext cx="409651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Encourage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0608" y="4645152"/>
            <a:ext cx="4069079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Show sustainability tips, history and eco points.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6858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526058"/>
                </a:solidFill>
                <a:latin typeface="Aptos"/>
              </a:defRPr>
            </a:pPr>
            <a:r>
              <a:t>ECOSORT AI  |  1M1B AI FOR SUSTAINABILITY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55664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526058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7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3744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210312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342B"/>
                </a:solidFill>
                <a:latin typeface="Aptos"/>
              </a:defRPr>
            </a:pPr>
            <a:r>
              <a:t>AI workflow &amp;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758952"/>
            <a:ext cx="10058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26058"/>
                </a:solidFill>
                <a:latin typeface="Aptos"/>
              </a:defRPr>
            </a:pPr>
            <a:r>
              <a:t>Input → classification → guidance → 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20116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0080" y="187452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86537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1847088"/>
            <a:ext cx="1033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USER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2267712"/>
            <a:ext cx="1005840" cy="9784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Text description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68880" y="2542032"/>
            <a:ext cx="256032" cy="0"/>
          </a:xfrm>
          <a:prstGeom prst="line">
            <a:avLst/>
          </a:prstGeom>
          <a:ln w="25400">
            <a:solidFill>
              <a:srgbClr val="237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07208" y="1691640"/>
            <a:ext cx="20116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990088" y="187452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90088" y="186537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5" y="1847088"/>
            <a:ext cx="10332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5" y="2267712"/>
            <a:ext cx="1005840" cy="9784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Classification logic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18888" y="2542032"/>
            <a:ext cx="256032" cy="0"/>
          </a:xfrm>
          <a:prstGeom prst="line">
            <a:avLst/>
          </a:prstGeom>
          <a:ln w="25400">
            <a:solidFill>
              <a:srgbClr val="237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57216" y="1691640"/>
            <a:ext cx="20116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340096" y="187452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40096" y="186537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7024" y="1855394"/>
            <a:ext cx="1157164" cy="3308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rPr dirty="0"/>
              <a:t>CATEGORY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07024" y="2267712"/>
            <a:ext cx="1005839" cy="9784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Waste type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68896" y="2542032"/>
            <a:ext cx="256031" cy="0"/>
          </a:xfrm>
          <a:prstGeom prst="line">
            <a:avLst/>
          </a:prstGeom>
          <a:ln w="25400">
            <a:solidFill>
              <a:srgbClr val="237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507223" y="1691640"/>
            <a:ext cx="20116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690103" y="187452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90103" y="186537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1" y="1847088"/>
            <a:ext cx="1127761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rPr dirty="0"/>
              <a:t>GUIDANCE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1" y="2267712"/>
            <a:ext cx="1005839" cy="9784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Reason + advice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18904" y="2542032"/>
            <a:ext cx="256032" cy="0"/>
          </a:xfrm>
          <a:prstGeom prst="line">
            <a:avLst/>
          </a:prstGeom>
          <a:ln w="25400">
            <a:solidFill>
              <a:srgbClr val="237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857232" y="1691640"/>
            <a:ext cx="20116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040111" y="187452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40111" y="186537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1847088"/>
            <a:ext cx="103327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2267712"/>
            <a:ext cx="1005839" cy="9784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Responsible handling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977639"/>
            <a:ext cx="3931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8342B"/>
                </a:solidFill>
                <a:latin typeface="Aptos"/>
              </a:defRPr>
            </a:pPr>
            <a:r>
              <a:t>Waste categories supported by the prototype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480560"/>
            <a:ext cx="2468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0120" y="4636008"/>
            <a:ext cx="2011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Wet / Organic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056632"/>
            <a:ext cx="1984248" cy="2011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3520439" y="4480560"/>
            <a:ext cx="2468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749039" y="4636008"/>
            <a:ext cx="2011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Dry / Recyclable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49039" y="5056632"/>
            <a:ext cx="1984248" cy="2011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309359" y="4480560"/>
            <a:ext cx="2468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37959" y="4636008"/>
            <a:ext cx="2011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E-Waste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59" y="5056632"/>
            <a:ext cx="1984248" cy="2011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9098280" y="4480560"/>
            <a:ext cx="2468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326880" y="4636008"/>
            <a:ext cx="2011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Hazardous / Special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5056632"/>
            <a:ext cx="1984248" cy="2011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4360" y="6473952"/>
            <a:ext cx="6858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526058"/>
                </a:solidFill>
                <a:latin typeface="Aptos"/>
              </a:defRPr>
            </a:pPr>
            <a:r>
              <a:t>ECOSORT AI  |  1M1B AI FOR SUSTAINABILITY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09960" y="6455664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526058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7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37441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210312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342B"/>
                </a:solidFill>
                <a:latin typeface="Aptos"/>
              </a:defRPr>
            </a:pPr>
            <a:r>
              <a:t>Prototype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758952"/>
            <a:ext cx="10058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26058"/>
                </a:solidFill>
                <a:latin typeface="Aptos"/>
              </a:defRPr>
            </a:pPr>
            <a:r>
              <a:t>Core functionality included in the web application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59" y="150876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49961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481328"/>
            <a:ext cx="245059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Waste analyzer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901952"/>
            <a:ext cx="2423159" cy="10241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Enter an item and receive a category.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2588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17720" y="150876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149961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8" y="1481328"/>
            <a:ext cx="245059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4648" y="1901952"/>
            <a:ext cx="2423159" cy="10241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Reason + disposal guidance.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32588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12480" y="150876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149961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8" y="1481328"/>
            <a:ext cx="245059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Safety alerts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1901952"/>
            <a:ext cx="2423159" cy="10241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Warnings for special materials.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42900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22959" y="361188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59" y="360273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3584448"/>
            <a:ext cx="245059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88" y="4005072"/>
            <a:ext cx="2423159" cy="10241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Recent analyses stored locally.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42900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617720" y="361188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17720" y="360273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4648" y="3584448"/>
            <a:ext cx="245059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Eco points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84648" y="4005072"/>
            <a:ext cx="2423159" cy="10241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Simple engagement and progress.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42900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412480" y="361188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80" y="360273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9408" y="3584448"/>
            <a:ext cx="245059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Dark mode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79408" y="4005072"/>
            <a:ext cx="2423159" cy="10241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Alternative interface appearance.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6858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526058"/>
                </a:solidFill>
                <a:latin typeface="Aptos"/>
              </a:defRPr>
            </a:pPr>
            <a:r>
              <a:t>ECOSORT AI  |  1M1B AI FOR SUSTAINABILITY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55664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526058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7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37441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210312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342B"/>
                </a:solidFill>
                <a:latin typeface="Aptos"/>
              </a:defRPr>
            </a:pPr>
            <a:r>
              <a:t>Prototype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758952"/>
            <a:ext cx="10058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26058"/>
                </a:solidFill>
                <a:latin typeface="Aptos"/>
              </a:defRPr>
            </a:pPr>
            <a:r>
              <a:t>Representative examples for functional checking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59" y="141732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40817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89888"/>
            <a:ext cx="42793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Banana peel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810512"/>
            <a:ext cx="4251959" cy="2011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Wet / Organic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23444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46520" y="141732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40817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1389888"/>
            <a:ext cx="42793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Plastic bottle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1810512"/>
            <a:ext cx="4251959" cy="2011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Dry / Recyclable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37744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2959" y="256032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255117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2532888"/>
            <a:ext cx="42793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Newspaper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2953512"/>
            <a:ext cx="4251959" cy="2011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Dry / Recyclable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37744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46520" y="256032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255117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8" y="2532888"/>
            <a:ext cx="42793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Old mobile phone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3448" y="2953512"/>
            <a:ext cx="4251959" cy="2011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E-Waste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52044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22959" y="370332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59" y="369417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88" y="3675888"/>
            <a:ext cx="42793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Used battery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9888" y="4096512"/>
            <a:ext cx="4251959" cy="2011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Hazardous / Special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352044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446520" y="370332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46520" y="369417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13448" y="3675888"/>
            <a:ext cx="42793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Food leftovers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13448" y="4096512"/>
            <a:ext cx="4251959" cy="2011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Wet / Organic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466344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22959" y="484632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59" y="483717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89888" y="4818888"/>
            <a:ext cx="42793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Cardboard box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89888" y="5239512"/>
            <a:ext cx="4251959" cy="2011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Dry / Recyclable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466344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446520" y="484632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46520" y="483717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13448" y="4818888"/>
            <a:ext cx="42793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Broken glass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13448" y="5239512"/>
            <a:ext cx="4251959" cy="2011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Glass / Special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6016752"/>
            <a:ext cx="10515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526058"/>
                </a:solidFill>
                <a:latin typeface="Aptos"/>
              </a:defRPr>
            </a:pPr>
            <a:r>
              <a:t>Important: these are prototype test cases, not a measured machine-learning accuracy benchmark.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6473952"/>
            <a:ext cx="6858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526058"/>
                </a:solidFill>
                <a:latin typeface="Aptos"/>
              </a:defRPr>
            </a:pPr>
            <a:r>
              <a:t>ECOSORT AI  |  1M1B AI FOR SUSTAINABILITY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09960" y="6455664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526058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7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37441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210312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342B"/>
                </a:solidFill>
                <a:latin typeface="Aptos"/>
              </a:defRPr>
            </a:pPr>
            <a:r>
              <a:t>Responsible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758952"/>
            <a:ext cx="10058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26058"/>
                </a:solidFill>
                <a:latin typeface="Aptos"/>
              </a:defRPr>
            </a:pPr>
            <a:r>
              <a:t>Safety and transparency are built into the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141732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0817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389888"/>
            <a:ext cx="42793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Fairness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1810512"/>
            <a:ext cx="4251959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Use consistent classification rules across users.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3444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92240" y="1417320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408176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1389888"/>
            <a:ext cx="42793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Transparency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810512"/>
            <a:ext cx="4251959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Clearly state the prototype's current AI limitations.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770632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68680" y="2953512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2944368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2926080"/>
            <a:ext cx="42793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Privacy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5607" y="3346704"/>
            <a:ext cx="4251959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Minimize data collection; history is stored locally.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770632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92240" y="2953512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2944368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2926080"/>
            <a:ext cx="42793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Safety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3346704"/>
            <a:ext cx="4251959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Flag hazardous/special items and encourage verification.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306824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68680" y="4489704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4480560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7" y="4462272"/>
            <a:ext cx="42793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Human oversight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35607" y="4882896"/>
            <a:ext cx="4251959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Ambiguous items should be checked by people.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4306824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492240" y="4489704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4480560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4462272"/>
            <a:ext cx="42793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Future validation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4882896"/>
            <a:ext cx="4251959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A real AI model needs accuracy, bias, privacy and safety testing.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6858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526058"/>
                </a:solidFill>
                <a:latin typeface="Aptos"/>
              </a:defRPr>
            </a:pPr>
            <a:r>
              <a:t>ECOSORT AI  |  1M1B AI FOR SUSTAINABILITY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55664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52605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7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37441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210312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342B"/>
                </a:solidFill>
                <a:latin typeface="Aptos"/>
              </a:defRPr>
            </a:pPr>
            <a:r>
              <a:t>Expected impact &amp;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758952"/>
            <a:ext cx="10058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26058"/>
                </a:solidFill>
                <a:latin typeface="Aptos"/>
              </a:defRPr>
            </a:pPr>
            <a:r>
              <a:t>What can be demonstrated — and what still needs improvement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59" y="1463039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453895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435607"/>
            <a:ext cx="254203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Environmental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856231"/>
            <a:ext cx="2514600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Can encourage better segregation and recycling awareness.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28016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17136" y="1463039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17136" y="1453895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4064" y="1435607"/>
            <a:ext cx="254203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Social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856231"/>
            <a:ext cx="2514600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Can make sustainability guidance easier to understand.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28016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11311" y="1463039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1" y="1453895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435607"/>
            <a:ext cx="254203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Practical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1856231"/>
            <a:ext cx="2514600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Can provide quick support for common waste decisions.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520440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37441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886200"/>
            <a:ext cx="10424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6322C"/>
                </a:solidFill>
                <a:latin typeface="Aptos"/>
              </a:defRPr>
            </a:pPr>
            <a:r>
              <a:t>•  Current classification uses predefined/curated logic; it is not a trained ML model.</a:t>
            </a:r>
          </a:p>
          <a:p>
            <a:pPr>
              <a:spcAft>
                <a:spcPts val="1000"/>
              </a:spcAft>
              <a:defRPr sz="1500">
                <a:solidFill>
                  <a:srgbClr val="26322C"/>
                </a:solidFill>
                <a:latin typeface="Aptos"/>
              </a:defRPr>
            </a:pPr>
            <a:r>
              <a:t>•  Ambiguous or mixed-material items may require human verification.</a:t>
            </a:r>
          </a:p>
          <a:p>
            <a:pPr>
              <a:spcAft>
                <a:spcPts val="1000"/>
              </a:spcAft>
              <a:defRPr sz="1500">
                <a:solidFill>
                  <a:srgbClr val="26322C"/>
                </a:solidFill>
                <a:latin typeface="Aptos"/>
              </a:defRPr>
            </a:pPr>
            <a:r>
              <a:t>•  Local waste-management rules can differ by location.</a:t>
            </a:r>
          </a:p>
          <a:p>
            <a:pPr>
              <a:spcAft>
                <a:spcPts val="1000"/>
              </a:spcAft>
              <a:defRPr sz="1500">
                <a:solidFill>
                  <a:srgbClr val="26322C"/>
                </a:solidFill>
                <a:latin typeface="Aptos"/>
              </a:defRPr>
            </a:pPr>
            <a:r>
              <a:t>•  Image upload is currently a preview feature; real image classification is future scope.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6858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526058"/>
                </a:solidFill>
                <a:latin typeface="Aptos"/>
              </a:defRPr>
            </a:pPr>
            <a:r>
              <a:t>ECOSORT AI  |  1M1B AI FOR SUSTAINABILITY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55664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526058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7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37441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210312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342B"/>
                </a:solidFill>
                <a:latin typeface="Aptos"/>
              </a:defRPr>
            </a:pPr>
            <a:r>
              <a:t>Future scope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758952"/>
            <a:ext cx="10058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26058"/>
                </a:solidFill>
                <a:latin typeface="Aptos"/>
              </a:defRPr>
            </a:pPr>
            <a:r>
              <a:t>Path from a student prototype to a validated sustainability assistant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80160"/>
            <a:ext cx="53035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1463039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435607"/>
            <a:ext cx="43251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FUTURE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1856231"/>
            <a:ext cx="4297680" cy="2715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• Real AI/ML text and image classification</a:t>
            </a:r>
            <a:br/>
            <a:r>
              <a:t>• Multimodal, voice and multilingual support</a:t>
            </a:r>
            <a:br/>
            <a:r>
              <a:t>• Location-specific disposal rules</a:t>
            </a:r>
            <a:br/>
            <a:r>
              <a:t>• Authorized collection-point integration</a:t>
            </a:r>
            <a:br/>
            <a:r>
              <a:t>• Mobile application and analytics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3035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B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0" y="1463039"/>
            <a:ext cx="438912" cy="438912"/>
          </a:xfrm>
          <a:prstGeom prst="ellipse">
            <a:avLst/>
          </a:prstGeom>
          <a:solidFill>
            <a:srgbClr val="DE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453895"/>
            <a:ext cx="43891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4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435607"/>
            <a:ext cx="43251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1B5230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1856231"/>
            <a:ext cx="4297679" cy="2715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0">
                <a:solidFill>
                  <a:srgbClr val="26322C"/>
                </a:solidFill>
                <a:latin typeface="Aptos"/>
              </a:defRPr>
            </a:pPr>
            <a:r>
              <a:t>EcoSort AI demonstrates a simple digital approach to helping users understand waste categories and disposal choices.</a:t>
            </a:r>
            <a:br/>
            <a:br/>
            <a:r>
              <a:t>Its next stage would require a validated AI model, real-world testing, local waste rules and continuous safety evaluation.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5257800"/>
            <a:ext cx="3337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237441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5806440"/>
            <a:ext cx="8046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526058"/>
                </a:solidFill>
                <a:latin typeface="Aptos"/>
              </a:defRPr>
            </a:pPr>
            <a:r>
              <a:t>Bheeshma Shankar A  |  Chaitanya Bharathi Institute of Technology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6858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526058"/>
                </a:solidFill>
                <a:latin typeface="Aptos"/>
              </a:defRPr>
            </a:pPr>
            <a:r>
              <a:t>ECOSORT AI  |  1M1B AI FOR SUSTAINABILITY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55664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526058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947</Words>
  <Application>Microsoft Office PowerPoint</Application>
  <PresentationFormat>Widescreen</PresentationFormat>
  <Paragraphs>240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Bheeshma Shanker</cp:lastModifiedBy>
  <cp:revision>4</cp:revision>
  <dcterms:created xsi:type="dcterms:W3CDTF">2013-01-27T09:14:16Z</dcterms:created>
  <dcterms:modified xsi:type="dcterms:W3CDTF">2026-09-16T14:34:19Z</dcterms:modified>
  <cp:category/>
</cp:coreProperties>
</file>